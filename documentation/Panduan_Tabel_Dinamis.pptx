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solidFill>
              <a:srgbClr val="0B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64592" cy="4389120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8220"/>
                </a:solidFill>
              </a:defRPr>
            </a:pPr>
            <a:r>
              <a:t>STANDAR OPERASIONAL PROSEDUR (SOP)</a:t>
            </a:r>
          </a:p>
          <a:p>
            <a:pPr>
              <a:spcBef>
                <a:spcPts val="800"/>
              </a:spcBef>
              <a:defRPr sz="3800" b="1">
                <a:solidFill>
                  <a:srgbClr val="FFFFFF"/>
                </a:solidFill>
              </a:defRPr>
            </a:pPr>
            <a:r>
              <a:t>PENGOPERASIAN TABEL DINAMIS</a:t>
            </a:r>
            <a:br/>
            <a:r>
              <a:t>DDA ONLINE</a:t>
            </a:r>
          </a:p>
          <a:p>
            <a:pPr>
              <a:spcBef>
                <a:spcPts val="1400"/>
              </a:spcBef>
              <a:defRPr sz="1600">
                <a:solidFill>
                  <a:srgbClr val="CBD5E1"/>
                </a:solidFill>
              </a:defRPr>
            </a:pPr>
            <a:r>
              <a:t>Panduan Lengkap: Menyiapkan Dimensi, Merakit Matriks di Generator, Entri Data Excel &amp; Audit PDF Head-to-Head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Badan Pusat Statistik (BPS) Provinsi Jawa Tengah • Pembaruan Sistem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WORKFLOW ARSITEKTUR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Alur Kerja 5 Tahap Pengelolaan Tabel Dinamis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66543" cy="109728"/>
          </a:xfrm>
          <a:prstGeom prst="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70078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6EFD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400" b="1">
                <a:solidFill>
                  <a:srgbClr val="0B2E59"/>
                </a:solidFill>
              </a:defRPr>
            </a:pPr>
            <a:r>
              <a:t>SETUP DIMENSI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admin/master_dimensi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Dimensi Kolom (Karakteristik)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Dimensi Baris (Wilayah/Komoditas)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Dimensi Periode (Waktu)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4368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44368" y="1645920"/>
            <a:ext cx="2066543" cy="1097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920240"/>
            <a:ext cx="170078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400" b="1">
                <a:solidFill>
                  <a:srgbClr val="0B2E59"/>
                </a:solidFill>
              </a:defRPr>
            </a:pPr>
            <a:r>
              <a:t>RAKIT TABEL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admin/master_tabel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Buka Generator Matriks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Atur Satuan &amp; Presisi Desimal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Validasi Live Matrix Preview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57216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57216" y="1645920"/>
            <a:ext cx="2066543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1920240"/>
            <a:ext cx="170078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400" b="1">
                <a:solidFill>
                  <a:srgbClr val="0B2E59"/>
                </a:solidFill>
              </a:defRPr>
            </a:pPr>
            <a:r>
              <a:t>ENTRI NILAI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Pilih 1 dari 3 Cara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A. Tarik Otomatis dari PDF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B. Alur Template Excel OPD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C. Inline Web Editor Cepat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0064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645920"/>
            <a:ext cx="2066543" cy="10972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1920240"/>
            <a:ext cx="170078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4444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400" b="1">
                <a:solidFill>
                  <a:srgbClr val="0B2E59"/>
                </a:solidFill>
              </a:defRPr>
            </a:pPr>
            <a:r>
              <a:t>AUDIT BPS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admin/matching_pdf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Bandingkan PDF vs Database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Cek Selisih Side-by-Side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1-Klik Samakan ke Tabel Dinamis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82912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82912" y="1645920"/>
            <a:ext cx="2066543" cy="109728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2" y="1920240"/>
            <a:ext cx="170078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8220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400" b="1">
                <a:solidFill>
                  <a:srgbClr val="0B2E59"/>
                </a:solidFill>
              </a:defRPr>
            </a:pPr>
            <a:r>
              <a:t>PUBLIKASI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Portal DDA Publik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Tampilan Web Interaktif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Filter Multi-Year Switcher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✓ Ekspor Excel, CSV &amp; Print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MENU: ADMIN/MASTER_DIMENSI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Langkah 1A: Setup Dimensi Kolom (Karakteristik)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KOLOM ASIMETRIS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109728"/>
          </a:xfrm>
          <a:prstGeom prst="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6EFD"/>
                </a:solidFill>
              </a:defRPr>
            </a:pPr>
            <a:r>
              <a:t>MODEL 1: KOLOM TUNGGAL STANDAR</a:t>
            </a:r>
          </a:p>
          <a:p>
            <a:pPr>
              <a:spcAft>
                <a:spcPts val="1200"/>
              </a:spcAft>
              <a:defRPr sz="1200">
                <a:solidFill>
                  <a:srgbClr val="475569"/>
                </a:solidFill>
              </a:defRPr>
            </a:pPr>
            <a:r>
              <a:t>Cocok untuk tabel dengan susunan variabel sederhana dalam 1 baris header.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• Buka tab 'Karakteristik', klik 'Tambah Kelompok Karakteristik'.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• Masukkan nama kelompok (contoh: Indikator Kemiskinan).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• Ketik setiap nama kolom secara langsung: Jumlah Penduduk Miskin, Garis Kemiskinan, Indeks Kedalaman (P1).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• Urutkan posisi kolom menggunakan drag-and-drop atau input urutan numerik.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109728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8220"/>
                </a:solidFill>
              </a:defRPr>
            </a:pPr>
            <a:r>
              <a:t>MODEL 2: HEADER BERTINGKAT (INDUK || ANAK)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Gunakan pemisah ganda ( || ) untuk membuat grup kolom bertingkat secara otomatis.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651760"/>
            <a:ext cx="45720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B2E59"/>
                </a:solidFill>
                <a:latin typeface="Consolas"/>
              </a:defRPr>
            </a:pPr>
            <a:r>
              <a:t>Contoh Penulisan Input Kolom:</a:t>
            </a:r>
            <a:br/>
            <a:r>
              <a:t>Distribusi || Pedagang Besar Farmasi</a:t>
            </a:r>
            <a:br/>
            <a:r>
              <a:t>Distribusi || Gudang Farmasi</a:t>
            </a:r>
            <a:br/>
            <a:r>
              <a:t>Pelayanan || Rumah Sakit</a:t>
            </a:r>
            <a:br/>
            <a:r>
              <a:t>Pelayanan || Puskesmas</a:t>
            </a:r>
            <a:br/>
            <a:r>
              <a:t>Jumlah (tanpa || otomatis jadi kolom mandiri)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✓ Otomasi Grid Sistem:</a:t>
            </a:r>
            <a:br/>
            <a:r>
              <a:t>Teks kiri || menjadi header atas (colspan), teks kanan || menjadi sub-kolom, dan teks tanpa || otomatis menggabungkan baris atas-bawah (rowspan=2).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MENU: ADMIN/MASTER_DIMENSI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Langkah 1B: Setup Dimensi Baris &amp; Hierarki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 TIPE BARIS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6EFD"/>
                </a:solidFill>
              </a:defRPr>
            </a:pPr>
            <a:r>
              <a:t>TIPE 'DATA'</a:t>
            </a:r>
          </a:p>
          <a:p>
            <a:pPr>
              <a:spcBef>
                <a:spcPts val="200"/>
              </a:spcBef>
              <a:defRPr sz="1400" b="1">
                <a:solidFill>
                  <a:srgbClr val="0B2E59"/>
                </a:solidFill>
              </a:defRPr>
            </a:pPr>
            <a:r>
              <a:t>Baris Nilai Numerik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Wajib diisi angka murni oleh walidata OPD. Menampung data kabupaten atau komoditas spesifik.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109728" cy="2011680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TIPE 'KATEGORI'</a:t>
            </a:r>
          </a:p>
          <a:p>
            <a:pPr>
              <a:spcBef>
                <a:spcPts val="200"/>
              </a:spcBef>
              <a:defRPr sz="1400" b="1">
                <a:solidFill>
                  <a:srgbClr val="0B2E59"/>
                </a:solidFill>
              </a:defRPr>
            </a:pPr>
            <a:r>
              <a:t>Judul Kelompok Induk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Teks dicetak tebal (bold) &amp; sel nilai diarsir/kunci. Tidak diisi angka (contoh: Makanan, Sarana).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09728" cy="2011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TIPE 'SUBTOTAL'</a:t>
            </a:r>
          </a:p>
          <a:p>
            <a:pPr>
              <a:spcBef>
                <a:spcPts val="200"/>
              </a:spcBef>
              <a:defRPr sz="1400" b="1">
                <a:solidFill>
                  <a:srgbClr val="0B2E59"/>
                </a:solidFill>
              </a:defRPr>
            </a:pPr>
            <a:r>
              <a:t>Sub-Penjumlahan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Menjumlahkan kelompok tertentu (contoh: Jumlah Makanan). Otomatis mengecualikan kategori lain.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931920"/>
            <a:ext cx="109728" cy="20116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TIPE 'TOTAL'</a:t>
            </a:r>
          </a:p>
          <a:p>
            <a:pPr>
              <a:spcBef>
                <a:spcPts val="200"/>
              </a:spcBef>
              <a:defRPr sz="1400" b="1">
                <a:solidFill>
                  <a:srgbClr val="0B2E59"/>
                </a:solidFill>
              </a:defRPr>
            </a:pPr>
            <a:r>
              <a:t>Grand Total Akhir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Garis ganda akuntansi standar BPS di bagian bawah. Menjumlahkan seluruh data murni.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E59"/>
                </a:solidFill>
              </a:defRPr>
            </a:pPr>
            <a:r>
              <a:t>💡 ATURAN INDENTASI: Level 0 = Rata Kiri (Induk) | Level 1 = Indentasi 16px (Sub-bab) | Level 2 = Indentasi 32px (Sub-sub bab).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MENU: ADMIN/MASTER_DIMENSI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Langkah 1C: Setup Dimensi Periode Waktu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REUSABLE DIMENSION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66543" cy="109728"/>
          </a:xfrm>
          <a:prstGeom prst="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51790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6EFD"/>
                </a:solidFill>
              </a:defRPr>
            </a:pPr>
            <a:r>
              <a:t>MODEL TAHUN TUNGGAL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300" b="1">
                <a:solidFill>
                  <a:srgbClr val="0B2E59"/>
                </a:solidFill>
              </a:defRPr>
            </a:pPr>
            <a:r>
              <a:t>Data Tahunan Berjalan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Contoh: 2024, 2025, 2026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Paling umum digunakan untuk publikasi buku tahunan DDA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Menghasilkan 1 set matriks data per tahun tabel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Mudah dipetakan dengan halaman cetak PDF buku BPS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2066543" cy="1097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151790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MODEL RUNTUN WAKTU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300" b="1">
                <a:solidFill>
                  <a:srgbClr val="0B2E59"/>
                </a:solidFill>
              </a:defRPr>
            </a:pPr>
            <a:r>
              <a:t>Multi-Year Comparison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Contoh: 2021, 2022, 2023, 2024, 2025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Menampilkan data tren beberapa tahun sekaligus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Kolom tahun membentang horizontal di bawah variabel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Pengunjung portal web dapat membandingkan tren angka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645920"/>
            <a:ext cx="2066543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151790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MODEL BULANAN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300" b="1">
                <a:solidFill>
                  <a:srgbClr val="0B2E59"/>
                </a:solidFill>
              </a:defRPr>
            </a:pPr>
            <a:r>
              <a:t>Berkala / Monthly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Contoh: Januari s.d Desember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Cocok untuk data meteorologi, inflasi, atau kunjungan wisata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Tersedia baris rekapitulasi rata-rata atau total tahunan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Dukungan ekspor Excel bulanan yang rapi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MENU: ADMIN/MASTER_TABEL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Langkah 2A: Merakit Matriks di Generator Tabel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SPLIT-VIEW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109728"/>
          </a:xfrm>
          <a:prstGeom prst="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6EFD"/>
                </a:solidFill>
              </a:defRPr>
            </a:pPr>
            <a:r>
              <a:t>FORM PENGATURAN PANEL KIRI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Akses Generator: Klik titik tiga (Aksi) pada tabel -&gt; pilih 'Rakit Tabel Dinamis'.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Pilih Dimensi: Pilih Kelompok Kolom, Kelompok Baris, dan Kelompok Periode yang sudah disiapkan.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Satuan Data (Unit): Masukkan satuan resmi dwibahasa (contoh: Jiwa / Person, Hektar / Hectare, Persen / Percentage).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Sumber &amp; Catatan: Tuliskan nama instansi walidata/dinas resmi dan catatan statistik penting.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Grafik Rekomendasi: Tentukan visualisasi bawaan (Bar, Line, atau Pie Chart).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109728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8220"/>
                </a:solidFill>
              </a:defRPr>
            </a:pPr>
            <a:r>
              <a:t>ATURAN PRESISI DESIMAL BPS</a:t>
            </a:r>
          </a:p>
          <a:p>
            <a:pPr>
              <a:spcBef>
                <a:spcPts val="800"/>
              </a:spcBef>
              <a:defRPr sz="1300" b="1">
                <a:solidFill>
                  <a:srgbClr val="0B2E59"/>
                </a:solidFill>
              </a:defRPr>
            </a:pPr>
            <a:r>
              <a:t>0 Desimal (Bilangan Bulat)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t>Input: 1500 -&gt; Tampil: 1.500 (Pemisah ribuan titik standar Indonesia).</a:t>
            </a:r>
          </a:p>
          <a:p>
            <a:pPr>
              <a:spcBef>
                <a:spcPts val="800"/>
              </a:spcBef>
              <a:defRPr sz="1300" b="1">
                <a:solidFill>
                  <a:srgbClr val="0B2E59"/>
                </a:solidFill>
              </a:defRPr>
            </a:pPr>
            <a:r>
              <a:t>1 Desimal (Satu Angka Pecahan)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t>Input: 12.5 -&gt; Tampil: 12,5 (Koma sebagai pemisah). Angka bulat 100 tetap tampil 100.</a:t>
            </a:r>
          </a:p>
          <a:p>
            <a:pPr>
              <a:spcBef>
                <a:spcPts val="800"/>
              </a:spcBef>
              <a:defRPr sz="1300" b="1">
                <a:solidFill>
                  <a:srgbClr val="0B2E59"/>
                </a:solidFill>
              </a:defRPr>
            </a:pPr>
            <a:r>
              <a:t>2 Desimal (Standar Buku BPS)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t>Input: 1007.98 -&gt; Tampil: 1.007,98.</a:t>
            </a:r>
            <a:br/>
            <a:r>
              <a:t>Input: 2.8 -&gt; Tampil: 2,80 (Nol belakang koma dipreservasi sesuai kaidah statistik).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MENU: ADMIN/MASTER_TABEL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Langkah 2B: Validasi Pratinjau &amp; Simpan Matriks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STATUS AKTIF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85800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KANVAS LIVE MATRIX PREVIEW (PANEL KANAN)</a:t>
            </a:r>
          </a:p>
          <a:p>
            <a:pPr>
              <a:spcBef>
                <a:spcPts val="800"/>
              </a:spcBef>
              <a:defRPr sz="1300" b="1">
                <a:solidFill>
                  <a:srgbClr val="0B2E59"/>
                </a:solidFill>
              </a:defRPr>
            </a:pPr>
            <a:r>
              <a:t>☑ Cek Penggabungan Header (Colspan)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t>Pastikan grup kolom bertingkat atas menaungi sub-kolom yang sesuai di bawahnya.</a:t>
            </a:r>
          </a:p>
          <a:p>
            <a:pPr>
              <a:spcBef>
                <a:spcPts val="800"/>
              </a:spcBef>
              <a:defRPr sz="1300" b="1">
                <a:solidFill>
                  <a:srgbClr val="0B2E59"/>
                </a:solidFill>
              </a:defRPr>
            </a:pPr>
            <a:r>
              <a:t>☑ Cek Kolom Mandiri (Rowspan)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t>Kolom seperti 'Jumlah' atau nama wilayah vertikal menyatu dari atas ke bawah (rowspan=2).</a:t>
            </a:r>
          </a:p>
          <a:p>
            <a:pPr>
              <a:spcBef>
                <a:spcPts val="800"/>
              </a:spcBef>
              <a:defRPr sz="1300" b="1">
                <a:solidFill>
                  <a:srgbClr val="0B2E59"/>
                </a:solidFill>
              </a:defRPr>
            </a:pPr>
            <a:r>
              <a:t>☑ Cek Urutan Wilayah &amp; Indentasi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t>Pastikan urutan Kabupaten 1 s.d 29 dan Kota 1 s.d 6 tidak terbalik.</a:t>
            </a:r>
          </a:p>
          <a:p>
            <a:pPr>
              <a:spcBef>
                <a:spcPts val="800"/>
              </a:spcBef>
              <a:defRPr sz="1300" b="1">
                <a:solidFill>
                  <a:srgbClr val="0B2E59"/>
                </a:solidFill>
              </a:defRPr>
            </a:pPr>
            <a:r>
              <a:t>☑ Cek Baris Total Terbawah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t>Pastikan baris grand total berada paling bawah dengan garis ganda standar BPS.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8B5CF6"/>
                </a:solidFill>
              </a:defRPr>
            </a:pPr>
            <a:r>
              <a:t>AKSI SIMPAN</a:t>
            </a:r>
          </a:p>
          <a:p>
            <a:pPr>
              <a:spcAft>
                <a:spcPts val="1200"/>
              </a:spcAft>
              <a:defRPr sz="1300" b="1">
                <a:solidFill>
                  <a:srgbClr val="0B2E59"/>
                </a:solidFill>
              </a:defRPr>
            </a:pPr>
            <a:r>
              <a:t>1. Klik tombol hijau:</a:t>
            </a:r>
            <a:br/>
            <a:r>
              <a:t>'Simpan Konfigurasi Matriks'</a:t>
            </a:r>
          </a:p>
          <a:p>
            <a:pPr>
              <a:spcAft>
                <a:spcPts val="1200"/>
              </a:spcAft>
              <a:defRPr sz="1200">
                <a:solidFill>
                  <a:srgbClr val="475569"/>
                </a:solidFill>
              </a:defRPr>
            </a:pPr>
            <a:r>
              <a:t>2. Sistem merekam relasi ke database m_indikator_tabel.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3. Status tabel seketika aktif berbadge ungu: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754880"/>
            <a:ext cx="2834640" cy="50292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TABEL DINAMIS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MENU: ADMIN/MATCHING_PDF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Langkah 3A: Tarik Nilai Otomatis dari PDF (AI Instant)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1-KLIK SELESAI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69848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METODE TERCEPAT JIKA BUKU PDF SUDAH DIUNGGAH KE SISTEM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Langkah 1: Masuk Menu Matching PDF → Buka menu admin/matching_pdf pada panel navigasi admin DDA.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Langkah 2: Temukan Tabel Berstatus Data Kosong → Cari nomor tabel yang bersangkutan. Tabel dinamis yang belum ada angkanya memiliki tombol kuning.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Langkah 3: Klik Tombol Kuning 'Isi / Detail' → Klik tombol aksi bertanda magic wand kuning 'Isi / Detail' di baris tabel.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Langkah 4: AI Engine Bekerja Otomatis → Sistem memprofil halaman PDF, memetakan koordinat sel, menyuntikkan nilai numerik, dan membersihkan watermark.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Langkah 5: Selesai Instan → Seluruh sel langsung terisi nilai dan status otomatis berubah hijau 'Data Sesuai' (100% Cocok).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DISTRIBUSI OFFLINE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Langkah 3B: Alur Template Excel untuk Walidata / OPD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PROTECTED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66543" cy="109728"/>
          </a:xfrm>
          <a:prstGeom prst="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51790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6EFD"/>
                </a:solidFill>
              </a:defRPr>
            </a:pPr>
            <a:r>
              <a:t>1. UNDUH TEMPLATE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</a:defRPr>
            </a:pPr>
            <a:r>
              <a:t>admin/download_template_tabel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Klik tombol 'Unduh Template Excel'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Format resmi .xlsx tergenerate otomatis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Header kolom &amp; nama wilayah terkunci (protected)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OPD tidak bisa merusak struktur tabel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2066543" cy="109728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151790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8220"/>
                </a:solidFill>
              </a:defRPr>
            </a:pPr>
            <a:r>
              <a:t>2. PENGISIAN OLEH OPD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</a:defRPr>
            </a:pPr>
            <a:r>
              <a:t>Aturan Standar BPS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OPD mengetik angka hanya di sel warna putih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Ketik angka murni tanpa satuan (e.g. 1500 atau 12.5)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Data nihil: ketik strip '-' atau '0'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Data belum tersedia: ketik '...' atau kosongkan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645920"/>
            <a:ext cx="2066543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151790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UPLOAD KEMBALI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</a:defRPr>
            </a:pPr>
            <a:r>
              <a:t>admin/upload_excel_dinamis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Admin menerima file Excel yang telah diisi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Pilih file lalu klik 'Upload Excel'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Parser pintar memvalidasi presisi desimal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Data tersimpan instan ke t_nilai_dinamis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MENU: ADMIN/VIEW_TABEL_DINAMIS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Langkah 3C: Edit Langsung di Web (Inline Editor)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AUTO-SAVE AJAX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698480" cy="109728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8220"/>
                </a:solidFill>
              </a:defRPr>
            </a:pPr>
            <a:r>
              <a:t>SPREADSHEET INTERAKTIF DI BROWSER TANPA RELOAD HALAMAN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Langkah 1: Buka Tampilan Tabel → Buka menu admin/view_tabel_dinamis/{id_tahun_tabel} pada tabel yang bersangkutan.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Langkah 2: Pilih Sel yang Ingin Diubah → Arahkan kursor mouse ke sel data angka yang ingin diperbaiki.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Langkah 3: Klik Dua Kali (Double Click) → Klik ganda pada sel tersebut hingga berubah menjadi input text aktif.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Langkah 4: Ketik Angka Baru &amp; Tekan Enter → Ketik angka revisi lalu tekan tombol Enter atau klik di luar sel.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Langkah 5: Auto-Save via AJAX → Sistem langsung mengirimkan nilai baru ke database di latar belakang secara otomatis.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MENU: ADMIN/MATCHING_PDF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Langkah 4: Validasi &amp; Sinkronisasi Selisih PDF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AUDIT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0972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EF4444"/>
                </a:solidFill>
              </a:defRPr>
            </a:pPr>
            <a:r>
              <a:t>1. CEK STATUS BADGE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🟢 Data Sesuai: 100% angka cocok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🔴 Ada Selisih: Ditemukan beda angka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🟡 Data Kosong: Nilai belum diisi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Klik tombol 'Cek Beda' jika status merah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2468880" cy="109728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475569"/>
                </a:solidFill>
              </a:defRPr>
            </a:pPr>
            <a:r>
              <a:t>2. MODAL SIDE-BY-SIDE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Sisi Kiri: Nilai cetakan PDF resmi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Sisi Kanan: Nilai database saat ini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Ditampilkan transparan per wilayah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Menghitung selisih numerik otomatis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46888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3. SINKRONISASI 1-KLIK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Per Baris: Klik 'Gunakan Angka PDF'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Semua Sekaligus: Klik tombol 'Samakan Semua Selisih ke Tabel Dinamis'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Database langsung terupdate instan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Status berubah hijau (Data Sesuai)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645920"/>
            <a:ext cx="2468880" cy="109728"/>
          </a:xfrm>
          <a:prstGeom prst="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D6EFD"/>
                </a:solidFill>
              </a:defRPr>
            </a:pPr>
            <a:r>
              <a:t>4. BUKTI AUDIT EXCEL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Klik ikon Excel di samping tombol status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Download Laporan Rekonsiliasi (.xlsx)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Memuat lembar audit sel demi sel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Siap untuk dokumen pertanggungjawaban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PORTAL DDA PUBLIK</a:t>
            </a:r>
          </a:p>
          <a:p>
            <a:pPr>
              <a:spcBef>
                <a:spcPts val="300"/>
              </a:spcBef>
              <a:defRPr sz="2200" b="1">
                <a:solidFill>
                  <a:srgbClr val="0B2E59"/>
                </a:solidFill>
              </a:defRPr>
            </a:pPr>
            <a:r>
              <a:t>Langkah 5: Tampilan Publik &amp; Ekspor Statistik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SIAP AKSES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66543" cy="109728"/>
          </a:xfrm>
          <a:prstGeom prst="rect">
            <a:avLst/>
          </a:prstGeom>
          <a:solidFill>
            <a:srgbClr val="0D6EFD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51790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6EFD"/>
                </a:solidFill>
              </a:defRPr>
            </a:pPr>
            <a:r>
              <a:t>MULTI-YEAR SWITCHER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300" b="1">
                <a:solidFill>
                  <a:srgbClr val="0B2E59"/>
                </a:solidFill>
              </a:defRPr>
            </a:pPr>
            <a:r>
              <a:t>Navigasi Waktu Interaktif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Tombol toggle pilihan tahun di atas tabel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Pengunjung dapat berganti periode dengan 1 klik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Mendukung analisis tren antar tahun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2066543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151790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EKSPOR EXCEL &amp; CSV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300" b="1">
                <a:solidFill>
                  <a:srgbClr val="0B2E59"/>
                </a:solidFill>
              </a:defRPr>
            </a:pPr>
            <a:r>
              <a:t>Format Bersih Siap Olah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Download Excel (.xlsx) dengan header dwibahasa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Download CSV untuk analis data / data science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Format angka dan pemisah ribuan terjaga rapi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645920"/>
            <a:ext cx="2066543" cy="109728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151790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8220"/>
                </a:solidFill>
              </a:defRPr>
            </a:pPr>
            <a:r>
              <a:t>PRINT-FRIENDLY &amp; METADATA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300" b="1">
                <a:solidFill>
                  <a:srgbClr val="0B2E59"/>
                </a:solidFill>
              </a:defRPr>
            </a:pPr>
            <a:r>
              <a:t>Standar Keterbukaan Data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Layout otomatis menyesuaikan saat dicetak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Menghilangkan navigasi web saat mode print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✓ Menampilkan Satuan, Sumber &amp; Catatan Kaki BPS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